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3.xml" ContentType="application/vnd.openxmlformats-officedocument.presentationml.slide+xml"/>
  <Override PartName="/ppt/slides/slide8.xml" ContentType="application/vnd.openxmlformats-officedocument.presentationml.slide+xml"/>
  <Override PartName="/ppt/slides/slide5.xml" ContentType="application/vnd.openxmlformats-officedocument.presentationml.slide+xml"/>
  <Override PartName="/ppt/slides/slide2.xml" ContentType="application/vnd.openxmlformats-officedocument.presentationml.slide+xml"/>
  <Override PartName="/ppt/slides/slide4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</p:sldIdLst>
  <p:sldSz cx="10080625" cy="5670550"/>
  <p:notesSz cx="7772400" cy="100584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5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"/>
          <p:cNvSpPr txBox="1"/>
          <p:nvPr/>
        </p:nvSpPr>
        <p:spPr>
          <a:xfrm>
            <a:off x="720000" y="720000"/>
            <a:ext cx="8640000" cy="720000"/>
          </a:xfrm>
          <a:prstGeom prst="rect">
            <a:avLst/>
          </a:prstGeom>
          <a:solidFill>
            <a:schemeClr val="accent1"/>
          </a:solidFill>
          <a:ln w="38160">
            <a:solidFill>
              <a:schemeClr val="accent1">
                <a:lumMod val="75000"/>
                <a:lumOff val="0"/>
              </a:schemeClr>
            </a:solidFill>
            <a:round/>
          </a:ln>
        </p:spPr>
        <p:txBody>
          <a:bodyPr lIns="90000" tIns="45000" rIns="90000" bIns="45000" anchor="t">
            <a:spAutoFit/>
          </a:bodyPr>
          <a:p>
            <a:pPr/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Sorting algorithm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" name=""/>
          <p:cNvSpPr txBox="1"/>
          <p:nvPr/>
        </p:nvSpPr>
        <p:spPr>
          <a:xfrm>
            <a:off x="720000" y="1800000"/>
            <a:ext cx="8640000" cy="720000"/>
          </a:xfrm>
          <a:prstGeom prst="rect">
            <a:avLst/>
          </a:prstGeom>
          <a:solidFill>
            <a:schemeClr val="accent1"/>
          </a:solidFill>
          <a:ln w="38160">
            <a:solidFill>
              <a:schemeClr val="accent1">
                <a:lumMod val="75000"/>
                <a:lumOff val="0"/>
              </a:schemeClr>
            </a:solidFill>
            <a:round/>
          </a:ln>
        </p:spPr>
        <p:txBody>
          <a:bodyPr lIns="90000" tIns="45000" rIns="90000" bIns="45000" anchor="t">
            <a:spAutoFit/>
          </a:bodyPr>
          <a:p>
            <a:pPr/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Compare 4, 2, 3, 1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" name=""/>
          <p:cNvSpPr txBox="1"/>
          <p:nvPr/>
        </p:nvSpPr>
        <p:spPr>
          <a:xfrm>
            <a:off x="720000" y="2880000"/>
            <a:ext cx="8640000" cy="1080000"/>
          </a:xfrm>
          <a:prstGeom prst="rect">
            <a:avLst/>
          </a:prstGeom>
          <a:solidFill>
            <a:schemeClr val="accent1"/>
          </a:solidFill>
          <a:ln w="38160">
            <a:solidFill>
              <a:schemeClr val="accent1">
                <a:lumMod val="75000"/>
                <a:lumOff val="0"/>
              </a:schemeClr>
            </a:solidFill>
            <a:round/>
          </a:ln>
        </p:spPr>
        <p:txBody>
          <a:bodyPr lIns="90000" tIns="45000" rIns="90000" bIns="45000" anchor="t">
            <a:spAutoFit/>
          </a:bodyPr>
          <a:p>
            <a:pPr/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Scan left to right; move the smallest value to the front.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"/>
          <p:cNvSpPr txBox="1"/>
          <p:nvPr/>
        </p:nvSpPr>
        <p:spPr>
          <a:xfrm>
            <a:off x="720000" y="720000"/>
            <a:ext cx="8640000" cy="720000"/>
          </a:xfrm>
          <a:prstGeom prst="rect">
            <a:avLst/>
          </a:prstGeom>
          <a:solidFill>
            <a:schemeClr val="accent1"/>
          </a:solidFill>
          <a:ln w="38160">
            <a:solidFill>
              <a:schemeClr val="accent1">
                <a:lumMod val="75000"/>
                <a:lumOff val="0"/>
              </a:schemeClr>
            </a:solidFill>
            <a:round/>
          </a:ln>
        </p:spPr>
        <p:txBody>
          <a:bodyPr lIns="90000" tIns="45000" rIns="90000" bIns="45000" anchor="t">
            <a:spAutoFit/>
          </a:bodyPr>
          <a:p>
            <a:pPr/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Titration curve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" name=""/>
          <p:cNvSpPr txBox="1"/>
          <p:nvPr/>
        </p:nvSpPr>
        <p:spPr>
          <a:xfrm>
            <a:off x="720000" y="1800000"/>
            <a:ext cx="8640000" cy="720000"/>
          </a:xfrm>
          <a:prstGeom prst="rect">
            <a:avLst/>
          </a:prstGeom>
          <a:solidFill>
            <a:schemeClr val="accent1"/>
          </a:solidFill>
          <a:ln w="38160">
            <a:solidFill>
              <a:schemeClr val="accent1">
                <a:lumMod val="75000"/>
                <a:lumOff val="0"/>
              </a:schemeClr>
            </a:solidFill>
            <a:round/>
          </a:ln>
        </p:spPr>
        <p:txBody>
          <a:bodyPr lIns="90000" tIns="45000" rIns="90000" bIns="45000" anchor="t">
            <a:spAutoFit/>
          </a:bodyPr>
          <a:p>
            <a:pPr/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pH rises as base is added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" name=""/>
          <p:cNvSpPr txBox="1"/>
          <p:nvPr/>
        </p:nvSpPr>
        <p:spPr>
          <a:xfrm>
            <a:off x="720000" y="2880000"/>
            <a:ext cx="8640000" cy="1080000"/>
          </a:xfrm>
          <a:prstGeom prst="rect">
            <a:avLst/>
          </a:prstGeom>
          <a:solidFill>
            <a:schemeClr val="accent1"/>
          </a:solidFill>
          <a:ln w="38160">
            <a:solidFill>
              <a:schemeClr val="accent1">
                <a:lumMod val="75000"/>
                <a:lumOff val="0"/>
              </a:schemeClr>
            </a:solidFill>
            <a:round/>
          </a:ln>
        </p:spPr>
        <p:txBody>
          <a:bodyPr lIns="90000" tIns="45000" rIns="90000" bIns="45000" anchor="t">
            <a:spAutoFit/>
          </a:bodyPr>
          <a:p>
            <a:pPr/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The equivalence point is near the steep part of the curve.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5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"/>
          <p:cNvSpPr txBox="1"/>
          <p:nvPr/>
        </p:nvSpPr>
        <p:spPr>
          <a:xfrm>
            <a:off x="720000" y="720000"/>
            <a:ext cx="8640000" cy="720000"/>
          </a:xfrm>
          <a:prstGeom prst="rect">
            <a:avLst/>
          </a:prstGeom>
          <a:solidFill>
            <a:schemeClr val="accent1"/>
          </a:solidFill>
          <a:ln w="38160">
            <a:solidFill>
              <a:schemeClr val="accent1">
                <a:lumMod val="75000"/>
                <a:lumOff val="0"/>
              </a:schemeClr>
            </a:solidFill>
            <a:round/>
          </a:ln>
        </p:spPr>
        <p:txBody>
          <a:bodyPr lIns="90000" tIns="45000" rIns="90000" bIns="45000" anchor="t">
            <a:spAutoFit/>
          </a:bodyPr>
          <a:p>
            <a:pPr/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Supply and demand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" name=""/>
          <p:cNvSpPr txBox="1"/>
          <p:nvPr/>
        </p:nvSpPr>
        <p:spPr>
          <a:xfrm>
            <a:off x="720000" y="1800000"/>
            <a:ext cx="8640000" cy="720000"/>
          </a:xfrm>
          <a:prstGeom prst="rect">
            <a:avLst/>
          </a:prstGeom>
          <a:solidFill>
            <a:schemeClr val="accent1"/>
          </a:solidFill>
          <a:ln w="38160">
            <a:solidFill>
              <a:schemeClr val="accent1">
                <a:lumMod val="75000"/>
                <a:lumOff val="0"/>
              </a:schemeClr>
            </a:solidFill>
            <a:round/>
          </a:ln>
        </p:spPr>
        <p:txBody>
          <a:bodyPr lIns="90000" tIns="45000" rIns="90000" bIns="45000" anchor="t">
            <a:spAutoFit/>
          </a:bodyPr>
          <a:p>
            <a:pPr/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Price / Quantity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" name=""/>
          <p:cNvSpPr txBox="1"/>
          <p:nvPr/>
        </p:nvSpPr>
        <p:spPr>
          <a:xfrm>
            <a:off x="720000" y="2880000"/>
            <a:ext cx="8640000" cy="1080000"/>
          </a:xfrm>
          <a:prstGeom prst="rect">
            <a:avLst/>
          </a:prstGeom>
          <a:solidFill>
            <a:schemeClr val="accent1"/>
          </a:solidFill>
          <a:ln w="38160">
            <a:solidFill>
              <a:schemeClr val="accent1">
                <a:lumMod val="75000"/>
                <a:lumOff val="0"/>
              </a:schemeClr>
            </a:solidFill>
            <a:round/>
          </a:ln>
        </p:spPr>
        <p:txBody>
          <a:bodyPr lIns="90000" tIns="45000" rIns="90000" bIns="45000" anchor="t">
            <a:spAutoFit/>
          </a:bodyPr>
          <a:p>
            <a:pPr/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Demand slopes down while supply slopes up; their crossing is equilibrium.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"/>
          <p:cNvSpPr txBox="1"/>
          <p:nvPr/>
        </p:nvSpPr>
        <p:spPr>
          <a:xfrm>
            <a:off x="720000" y="720000"/>
            <a:ext cx="8640000" cy="720000"/>
          </a:xfrm>
          <a:prstGeom prst="rect">
            <a:avLst/>
          </a:prstGeom>
          <a:solidFill>
            <a:schemeClr val="accent1"/>
          </a:solidFill>
          <a:ln w="38160">
            <a:solidFill>
              <a:schemeClr val="accent1">
                <a:lumMod val="75000"/>
                <a:lumOff val="0"/>
              </a:schemeClr>
            </a:solidFill>
            <a:round/>
          </a:ln>
        </p:spPr>
        <p:txBody>
          <a:bodyPr lIns="90000" tIns="45000" rIns="90000" bIns="45000" anchor="t">
            <a:spAutoFit/>
          </a:bodyPr>
          <a:p>
            <a:pPr/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Cell diagram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" name=""/>
          <p:cNvSpPr txBox="1"/>
          <p:nvPr/>
        </p:nvSpPr>
        <p:spPr>
          <a:xfrm>
            <a:off x="720000" y="1800000"/>
            <a:ext cx="8640000" cy="720000"/>
          </a:xfrm>
          <a:prstGeom prst="rect">
            <a:avLst/>
          </a:prstGeom>
          <a:solidFill>
            <a:schemeClr val="accent1"/>
          </a:solidFill>
          <a:ln w="38160">
            <a:solidFill>
              <a:schemeClr val="accent1">
                <a:lumMod val="75000"/>
                <a:lumOff val="0"/>
              </a:schemeClr>
            </a:solidFill>
            <a:round/>
          </a:ln>
        </p:spPr>
        <p:txBody>
          <a:bodyPr lIns="90000" tIns="45000" rIns="90000" bIns="45000" anchor="t">
            <a:spAutoFit/>
          </a:bodyPr>
          <a:p>
            <a:pPr/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Nucleus | membrane | mitochondria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" name=""/>
          <p:cNvSpPr txBox="1"/>
          <p:nvPr/>
        </p:nvSpPr>
        <p:spPr>
          <a:xfrm>
            <a:off x="720000" y="2880000"/>
            <a:ext cx="8640000" cy="1080000"/>
          </a:xfrm>
          <a:prstGeom prst="rect">
            <a:avLst/>
          </a:prstGeom>
          <a:solidFill>
            <a:schemeClr val="accent1"/>
          </a:solidFill>
          <a:ln w="38160">
            <a:solidFill>
              <a:schemeClr val="accent1">
                <a:lumMod val="75000"/>
                <a:lumOff val="0"/>
              </a:schemeClr>
            </a:solidFill>
            <a:round/>
          </a:ln>
        </p:spPr>
        <p:txBody>
          <a:bodyPr lIns="90000" tIns="45000" rIns="90000" bIns="45000" anchor="t">
            <a:spAutoFit/>
          </a:bodyPr>
          <a:p>
            <a:pPr/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The cell membrane surrounds the organelles shown inside.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5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"/>
          <p:cNvSpPr txBox="1"/>
          <p:nvPr/>
        </p:nvSpPr>
        <p:spPr>
          <a:xfrm>
            <a:off x="720000" y="720000"/>
            <a:ext cx="8640000" cy="720000"/>
          </a:xfrm>
          <a:prstGeom prst="rect">
            <a:avLst/>
          </a:prstGeom>
          <a:solidFill>
            <a:schemeClr val="accent1"/>
          </a:solidFill>
          <a:ln w="38160">
            <a:solidFill>
              <a:schemeClr val="accent1">
                <a:lumMod val="75000"/>
                <a:lumOff val="0"/>
              </a:schemeClr>
            </a:solidFill>
            <a:round/>
          </a:ln>
        </p:spPr>
        <p:txBody>
          <a:bodyPr lIns="90000" tIns="45000" rIns="90000" bIns="45000" anchor="t">
            <a:spAutoFit/>
          </a:bodyPr>
          <a:p>
            <a:pPr/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Timeline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" name=""/>
          <p:cNvSpPr txBox="1"/>
          <p:nvPr/>
        </p:nvSpPr>
        <p:spPr>
          <a:xfrm>
            <a:off x="720000" y="1800000"/>
            <a:ext cx="8640000" cy="720000"/>
          </a:xfrm>
          <a:prstGeom prst="rect">
            <a:avLst/>
          </a:prstGeom>
          <a:solidFill>
            <a:schemeClr val="accent1"/>
          </a:solidFill>
          <a:ln w="38160">
            <a:solidFill>
              <a:schemeClr val="accent1">
                <a:lumMod val="75000"/>
                <a:lumOff val="0"/>
              </a:schemeClr>
            </a:solidFill>
            <a:round/>
          </a:ln>
        </p:spPr>
        <p:txBody>
          <a:bodyPr lIns="90000" tIns="45000" rIns="90000" bIns="45000" anchor="t">
            <a:spAutoFit/>
          </a:bodyPr>
          <a:p>
            <a:pPr/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1900 1950 2000 2050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" name=""/>
          <p:cNvSpPr txBox="1"/>
          <p:nvPr/>
        </p:nvSpPr>
        <p:spPr>
          <a:xfrm>
            <a:off x="720000" y="2880000"/>
            <a:ext cx="8640000" cy="1080000"/>
          </a:xfrm>
          <a:prstGeom prst="rect">
            <a:avLst/>
          </a:prstGeom>
          <a:solidFill>
            <a:schemeClr val="accent1"/>
          </a:solidFill>
          <a:ln w="38160">
            <a:solidFill>
              <a:schemeClr val="accent1">
                <a:lumMod val="75000"/>
                <a:lumOff val="0"/>
              </a:schemeClr>
            </a:solidFill>
            <a:round/>
          </a:ln>
        </p:spPr>
        <p:txBody>
          <a:bodyPr lIns="90000" tIns="45000" rIns="90000" bIns="45000" anchor="t">
            <a:spAutoFit/>
          </a:bodyPr>
          <a:p>
            <a:pPr/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Events are arranged from earlier years on the left to later years on the right.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"/>
          <p:cNvSpPr txBox="1"/>
          <p:nvPr/>
        </p:nvSpPr>
        <p:spPr>
          <a:xfrm>
            <a:off x="720000" y="720000"/>
            <a:ext cx="8640000" cy="720000"/>
          </a:xfrm>
          <a:prstGeom prst="rect">
            <a:avLst/>
          </a:prstGeom>
          <a:solidFill>
            <a:schemeClr val="accent1"/>
          </a:solidFill>
          <a:ln w="38160">
            <a:solidFill>
              <a:schemeClr val="accent1">
                <a:lumMod val="75000"/>
                <a:lumOff val="0"/>
              </a:schemeClr>
            </a:solidFill>
            <a:round/>
          </a:ln>
        </p:spPr>
        <p:txBody>
          <a:bodyPr lIns="90000" tIns="45000" rIns="90000" bIns="45000" anchor="t">
            <a:spAutoFit/>
          </a:bodyPr>
          <a:p>
            <a:pPr/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Circuit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" name=""/>
          <p:cNvSpPr txBox="1"/>
          <p:nvPr/>
        </p:nvSpPr>
        <p:spPr>
          <a:xfrm>
            <a:off x="720000" y="1800000"/>
            <a:ext cx="8640000" cy="720000"/>
          </a:xfrm>
          <a:prstGeom prst="rect">
            <a:avLst/>
          </a:prstGeom>
          <a:solidFill>
            <a:schemeClr val="accent1"/>
          </a:solidFill>
          <a:ln w="38160">
            <a:solidFill>
              <a:schemeClr val="accent1">
                <a:lumMod val="75000"/>
                <a:lumOff val="0"/>
              </a:schemeClr>
            </a:solidFill>
            <a:round/>
          </a:ln>
        </p:spPr>
        <p:txBody>
          <a:bodyPr lIns="90000" tIns="45000" rIns="90000" bIns="45000" anchor="t">
            <a:spAutoFit/>
          </a:bodyPr>
          <a:p>
            <a:pPr/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Battery -&gt; resistor -&gt; LED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" name=""/>
          <p:cNvSpPr txBox="1"/>
          <p:nvPr/>
        </p:nvSpPr>
        <p:spPr>
          <a:xfrm>
            <a:off x="720000" y="2880000"/>
            <a:ext cx="8640000" cy="1080000"/>
          </a:xfrm>
          <a:prstGeom prst="rect">
            <a:avLst/>
          </a:prstGeom>
          <a:solidFill>
            <a:schemeClr val="accent1"/>
          </a:solidFill>
          <a:ln w="38160">
            <a:solidFill>
              <a:schemeClr val="accent1">
                <a:lumMod val="75000"/>
                <a:lumOff val="0"/>
              </a:schemeClr>
            </a:solidFill>
            <a:round/>
          </a:ln>
        </p:spPr>
        <p:txBody>
          <a:bodyPr lIns="90000" tIns="45000" rIns="90000" bIns="45000" anchor="t">
            <a:spAutoFit/>
          </a:bodyPr>
          <a:p>
            <a:pPr/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A closed loop carries current from the battery through the resistor and LED.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5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"/>
          <p:cNvSpPr txBox="1"/>
          <p:nvPr/>
        </p:nvSpPr>
        <p:spPr>
          <a:xfrm>
            <a:off x="720000" y="720000"/>
            <a:ext cx="8640000" cy="720000"/>
          </a:xfrm>
          <a:prstGeom prst="rect">
            <a:avLst/>
          </a:prstGeom>
          <a:solidFill>
            <a:schemeClr val="accent1"/>
          </a:solidFill>
          <a:ln w="38160">
            <a:solidFill>
              <a:schemeClr val="accent1">
                <a:lumMod val="75000"/>
                <a:lumOff val="0"/>
              </a:schemeClr>
            </a:solidFill>
            <a:round/>
          </a:ln>
        </p:spPr>
        <p:txBody>
          <a:bodyPr lIns="90000" tIns="45000" rIns="90000" bIns="45000" anchor="t">
            <a:spAutoFit/>
          </a:bodyPr>
          <a:p>
            <a:pPr/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Normal distribution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" name=""/>
          <p:cNvSpPr txBox="1"/>
          <p:nvPr/>
        </p:nvSpPr>
        <p:spPr>
          <a:xfrm>
            <a:off x="720000" y="1800000"/>
            <a:ext cx="8640000" cy="720000"/>
          </a:xfrm>
          <a:prstGeom prst="rect">
            <a:avLst/>
          </a:prstGeom>
          <a:solidFill>
            <a:schemeClr val="accent1"/>
          </a:solidFill>
          <a:ln w="38160">
            <a:solidFill>
              <a:schemeClr val="accent1">
                <a:lumMod val="75000"/>
                <a:lumOff val="0"/>
              </a:schemeClr>
            </a:solidFill>
            <a:round/>
          </a:ln>
        </p:spPr>
        <p:txBody>
          <a:bodyPr lIns="90000" tIns="45000" rIns="90000" bIns="45000" anchor="t">
            <a:spAutoFit/>
          </a:bodyPr>
          <a:p>
            <a:pPr/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Mean at center; tails at both ends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" name=""/>
          <p:cNvSpPr txBox="1"/>
          <p:nvPr/>
        </p:nvSpPr>
        <p:spPr>
          <a:xfrm>
            <a:off x="720000" y="2880000"/>
            <a:ext cx="8640000" cy="1080000"/>
          </a:xfrm>
          <a:prstGeom prst="rect">
            <a:avLst/>
          </a:prstGeom>
          <a:solidFill>
            <a:schemeClr val="accent1"/>
          </a:solidFill>
          <a:ln w="38160">
            <a:solidFill>
              <a:schemeClr val="accent1">
                <a:lumMod val="75000"/>
                <a:lumOff val="0"/>
              </a:schemeClr>
            </a:solidFill>
            <a:round/>
          </a:ln>
        </p:spPr>
        <p:txBody>
          <a:bodyPr lIns="90000" tIns="45000" rIns="90000" bIns="45000" anchor="t">
            <a:spAutoFit/>
          </a:bodyPr>
          <a:p>
            <a:pPr/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Most values cluster near the center of the bell-shaped curve.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"/>
          <p:cNvSpPr txBox="1"/>
          <p:nvPr/>
        </p:nvSpPr>
        <p:spPr>
          <a:xfrm>
            <a:off x="720000" y="720000"/>
            <a:ext cx="8640000" cy="720000"/>
          </a:xfrm>
          <a:prstGeom prst="rect">
            <a:avLst/>
          </a:prstGeom>
          <a:solidFill>
            <a:schemeClr val="accent1"/>
          </a:solidFill>
          <a:ln w="38160">
            <a:solidFill>
              <a:schemeClr val="accent1">
                <a:lumMod val="75000"/>
                <a:lumOff val="0"/>
              </a:schemeClr>
            </a:solidFill>
            <a:round/>
          </a:ln>
        </p:spPr>
        <p:txBody>
          <a:bodyPr lIns="90000" tIns="45000" rIns="90000" bIns="45000" anchor="t">
            <a:spAutoFit/>
          </a:bodyPr>
          <a:p>
            <a:pPr/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Map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" name=""/>
          <p:cNvSpPr txBox="1"/>
          <p:nvPr/>
        </p:nvSpPr>
        <p:spPr>
          <a:xfrm>
            <a:off x="720000" y="1800000"/>
            <a:ext cx="8640000" cy="720000"/>
          </a:xfrm>
          <a:prstGeom prst="rect">
            <a:avLst/>
          </a:prstGeom>
          <a:solidFill>
            <a:schemeClr val="accent1"/>
          </a:solidFill>
          <a:ln w="38160">
            <a:solidFill>
              <a:schemeClr val="accent1">
                <a:lumMod val="75000"/>
                <a:lumOff val="0"/>
              </a:schemeClr>
            </a:solidFill>
            <a:round/>
          </a:ln>
        </p:spPr>
        <p:txBody>
          <a:bodyPr lIns="90000" tIns="45000" rIns="90000" bIns="45000" anchor="t">
            <a:spAutoFit/>
          </a:bodyPr>
          <a:p>
            <a:pPr/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North | river | three towns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" name=""/>
          <p:cNvSpPr txBox="1"/>
          <p:nvPr/>
        </p:nvSpPr>
        <p:spPr>
          <a:xfrm>
            <a:off x="720000" y="2880000"/>
            <a:ext cx="8640000" cy="1080000"/>
          </a:xfrm>
          <a:prstGeom prst="rect">
            <a:avLst/>
          </a:prstGeom>
          <a:solidFill>
            <a:schemeClr val="accent1"/>
          </a:solidFill>
          <a:ln w="38160">
            <a:solidFill>
              <a:schemeClr val="accent1">
                <a:lumMod val="75000"/>
                <a:lumOff val="0"/>
              </a:schemeClr>
            </a:solidFill>
            <a:round/>
          </a:ln>
        </p:spPr>
        <p:txBody>
          <a:bodyPr lIns="90000" tIns="45000" rIns="90000" bIns="45000" anchor="t">
            <a:spAutoFit/>
          </a:bodyPr>
          <a:p>
            <a:pPr/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A north arrow, a river, and three labeled towns appear on the map.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LibreOffice/26.8.0.3$MacOSX_AARCH64 LibreOffice_project/bce0998afefdbc355585ca324285661a2170ba77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en-US</dc:language>
  <cp:lastModifiedBy/>
  <cp:revision>0</cp:revision>
  <dc:subject/>
  <dc:title/>
</cp:coreProperties>
</file>